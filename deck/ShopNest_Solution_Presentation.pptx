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6" r:id="rId1"/>
    <p:sldMasterId id="2147483707" r:id="rId2"/>
    <p:sldMasterId id="2147483708" r:id="rId3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7" r:id="rId15"/>
    <p:sldId id="260" r:id="rId8"/>
    <p:sldId id="273" r:id="rId54"/>
    <p:sldId id="261" r:id="rId9"/>
    <p:sldId id="274" r:id="rId55"/>
    <p:sldId id="262" r:id="rId10"/>
    <p:sldId id="275" r:id="rId56"/>
    <p:sldId id="263" r:id="rId11"/>
    <p:sldId id="276" r:id="rId57"/>
    <p:sldId id="277" r:id="rId58"/>
    <p:sldId id="264" r:id="rId12"/>
    <p:sldId id="278" r:id="rId59"/>
    <p:sldId id="265" r:id="rId13"/>
    <p:sldId id="269" r:id="rId50"/>
    <p:sldId id="270" r:id="rId51"/>
    <p:sldId id="266" r:id="rId14"/>
    <p:sldId id="271" r:id="rId52"/>
    <p:sldId id="272" r:id="rId53"/>
    <p:sldId id="268" r:id="rId16"/>
  </p:sldIdLst>
  <p:sldSz cx="9144000" cy="5143500" type="screen16x9"/>
  <p:notesSz cx="6858000" cy="9144000"/>
  <p:embeddedFontLst>
    <p:embeddedFont>
      <p:font typeface="Arial Black" panose="020B0A04020102020204" pitchFamily="34" charset="0"/>
      <p:regular r:id="rId18"/>
      <p:bold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Century Gothic" panose="020B0502020202020204" pitchFamily="34" charset="0"/>
      <p:regular r:id="rId24"/>
      <p:bold r:id="rId25"/>
      <p:italic r:id="rId26"/>
      <p:boldItalic r:id="rId27"/>
    </p:embeddedFont>
    <p:embeddedFont>
      <p:font typeface="Montserrat" panose="00000500000000000000" pitchFamily="2" charset="0"/>
      <p:regular r:id="rId28"/>
      <p:bold r:id="rId29"/>
      <p:italic r:id="rId30"/>
      <p:boldItalic r:id="rId31"/>
    </p:embeddedFont>
    <p:embeddedFont>
      <p:font typeface="Nunito" pitchFamily="2" charset="0"/>
      <p:regular r:id="rId32"/>
      <p:bold r:id="rId33"/>
      <p:italic r:id="rId34"/>
      <p:boldItalic r:id="rId35"/>
    </p:embeddedFont>
    <p:embeddedFont>
      <p:font typeface="Nunito ExtraBold" pitchFamily="2" charset="0"/>
      <p:bold r:id="rId36"/>
      <p:boldItalic r:id="rId37"/>
    </p:embeddedFont>
    <p:embeddedFont>
      <p:font typeface="Nunito SemiBold" pitchFamily="2" charset="0"/>
      <p:regular r:id="rId38"/>
      <p:bold r:id="rId39"/>
      <p:italic r:id="rId40"/>
      <p:boldItalic r:id="rId41"/>
    </p:embeddedFont>
    <p:embeddedFont>
      <p:font typeface="Verdana" panose="020B0604030504040204" pitchFamily="34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4365641-8200-4249-8B6C-B5293923BFB7}">
  <a:tblStyle styleId="{F4365641-8200-4249-8B6C-B5293923BFB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rgbClr val="5B9BD5">
              <a:alpha val="20000"/>
            </a:srgb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5B9BD5">
              <a:alpha val="20000"/>
            </a:srgb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420" y="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6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5.xml"/><Relationship Id="rId13" Type="http://schemas.openxmlformats.org/officeDocument/2006/relationships/slide" Target="slides/slide17.xml"/><Relationship Id="rId14" Type="http://schemas.openxmlformats.org/officeDocument/2006/relationships/slide" Target="slides/slide20.xml"/><Relationship Id="rId15" Type="http://schemas.openxmlformats.org/officeDocument/2006/relationships/slide" Target="slides/slide5.xml"/><Relationship Id="rId16" Type="http://schemas.openxmlformats.org/officeDocument/2006/relationships/slide" Target="slides/slide23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Relationship Id="rId22" Type="http://schemas.openxmlformats.org/officeDocument/2006/relationships/font" Target="fonts/font5.fntdata"/><Relationship Id="rId23" Type="http://schemas.openxmlformats.org/officeDocument/2006/relationships/font" Target="fonts/font6.fntdata"/><Relationship Id="rId24" Type="http://schemas.openxmlformats.org/officeDocument/2006/relationships/font" Target="fonts/font7.fntdata"/><Relationship Id="rId25" Type="http://schemas.openxmlformats.org/officeDocument/2006/relationships/font" Target="fonts/font8.fntdata"/><Relationship Id="rId26" Type="http://schemas.openxmlformats.org/officeDocument/2006/relationships/font" Target="fonts/font9.fntdata"/><Relationship Id="rId27" Type="http://schemas.openxmlformats.org/officeDocument/2006/relationships/font" Target="fonts/font10.fntdata"/><Relationship Id="rId28" Type="http://schemas.openxmlformats.org/officeDocument/2006/relationships/font" Target="fonts/font11.fntdata"/><Relationship Id="rId29" Type="http://schemas.openxmlformats.org/officeDocument/2006/relationships/font" Target="fonts/font12.fntdata"/><Relationship Id="rId30" Type="http://schemas.openxmlformats.org/officeDocument/2006/relationships/font" Target="fonts/font13.fntdata"/><Relationship Id="rId31" Type="http://schemas.openxmlformats.org/officeDocument/2006/relationships/font" Target="fonts/font14.fntdata"/><Relationship Id="rId32" Type="http://schemas.openxmlformats.org/officeDocument/2006/relationships/font" Target="fonts/font15.fntdata"/><Relationship Id="rId33" Type="http://schemas.openxmlformats.org/officeDocument/2006/relationships/font" Target="fonts/font16.fntdata"/><Relationship Id="rId34" Type="http://schemas.openxmlformats.org/officeDocument/2006/relationships/font" Target="fonts/font17.fntdata"/><Relationship Id="rId35" Type="http://schemas.openxmlformats.org/officeDocument/2006/relationships/font" Target="fonts/font18.fntdata"/><Relationship Id="rId36" Type="http://schemas.openxmlformats.org/officeDocument/2006/relationships/font" Target="fonts/font19.fntdata"/><Relationship Id="rId37" Type="http://schemas.openxmlformats.org/officeDocument/2006/relationships/font" Target="fonts/font20.fntdata"/><Relationship Id="rId38" Type="http://schemas.openxmlformats.org/officeDocument/2006/relationships/font" Target="fonts/font21.fntdata"/><Relationship Id="rId39" Type="http://schemas.openxmlformats.org/officeDocument/2006/relationships/font" Target="fonts/font22.fntdata"/><Relationship Id="rId40" Type="http://schemas.openxmlformats.org/officeDocument/2006/relationships/font" Target="fonts/font23.fntdata"/><Relationship Id="rId41" Type="http://schemas.openxmlformats.org/officeDocument/2006/relationships/font" Target="fonts/font24.fntdata"/><Relationship Id="rId42" Type="http://schemas.openxmlformats.org/officeDocument/2006/relationships/font" Target="fonts/font25.fntdata"/><Relationship Id="rId43" Type="http://schemas.openxmlformats.org/officeDocument/2006/relationships/font" Target="fonts/font26.fntdata"/><Relationship Id="rId44" Type="http://schemas.openxmlformats.org/officeDocument/2006/relationships/font" Target="fonts/font27.fntdata"/><Relationship Id="rId45" Type="http://schemas.openxmlformats.org/officeDocument/2006/relationships/font" Target="fonts/font28.fntdata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slide" Target="slides/slide18.xml"/><Relationship Id="rId51" Type="http://schemas.openxmlformats.org/officeDocument/2006/relationships/slide" Target="slides/slide19.xml"/><Relationship Id="rId52" Type="http://schemas.openxmlformats.org/officeDocument/2006/relationships/slide" Target="slides/slide21.xml"/><Relationship Id="rId53" Type="http://schemas.openxmlformats.org/officeDocument/2006/relationships/slide" Target="slides/slide22.xml"/><Relationship Id="rId54" Type="http://schemas.openxmlformats.org/officeDocument/2006/relationships/slide" Target="slides/slide7.xml"/><Relationship Id="rId55" Type="http://schemas.openxmlformats.org/officeDocument/2006/relationships/slide" Target="slides/slide9.xml"/><Relationship Id="rId56" Type="http://schemas.openxmlformats.org/officeDocument/2006/relationships/slide" Target="slides/slide11.xml"/><Relationship Id="rId57" Type="http://schemas.openxmlformats.org/officeDocument/2006/relationships/slide" Target="slides/slide13.xml"/><Relationship Id="rId58" Type="http://schemas.openxmlformats.org/officeDocument/2006/relationships/slide" Target="slides/slide14.xml"/><Relationship Id="rId59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dce6d25449_0_9:notes"/>
          <p:cNvSpPr txBox="1">
            <a:spLocks noGrp="1"/>
          </p:cNvSpPr>
          <p:nvPr>
            <p:ph type="body" idx="1"/>
          </p:nvPr>
        </p:nvSpPr>
        <p:spPr>
          <a:xfrm>
            <a:off x="685800" y="4343378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2" name="Google Shape;282;g3dce6d25449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778"/>
            <a:ext cx="4572300" cy="34287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dce6d25449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dce6d25449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de31972bd4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3" name="Google Shape;303;g3de31972bd4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de31972bd4_0_2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0" name="Google Shape;310;g3de31972bd4_0_2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Strengthen the deterministic policy gate + final override to improve compliance and predictability.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de393f4b43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de393f4b43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de393f4b43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de393f4b43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de393f4b43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de393f4b43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de393f4b43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3de393f4b43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de393f4b43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3de393f4b43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de393f4b43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3de393f4b43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de393f4b43_0_3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6" name="Google Shape;386;g3de393f4b43_0_3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de393f4b43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2" name="Google Shape;392;g3de393f4b43_0_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de393f4b43_0_1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9" name="Google Shape;399;g3de393f4b43_0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0" name="Google Shape;400;g3de393f4b43_0_1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g3de393f4b43_0_166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| Proprietary content. ©Great Learning. All Rights Reserved. Unauthorized use or distribution prohibited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OBJECT_1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295824" y="126288"/>
            <a:ext cx="6378600" cy="4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400" b="1" i="0">
                <a:solidFill>
                  <a:srgbClr val="0D38A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ftr" idx="11"/>
          </p:nvPr>
        </p:nvSpPr>
        <p:spPr>
          <a:xfrm>
            <a:off x="2491651" y="4671998"/>
            <a:ext cx="41613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OBJECT_3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275574" y="351128"/>
            <a:ext cx="6921600" cy="3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0" i="0">
                <a:solidFill>
                  <a:srgbClr val="434343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8915998" y="4976665"/>
            <a:ext cx="2109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4">
  <p:cSld name="OBJECT_3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115000"/>
              </a:lnSpc>
              <a:spcBef>
                <a:spcPts val="36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_AND_BODY_5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00" y="128063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marL="365760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marL="411480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6">
  <p:cSld name="TITLE_AND_BODY_6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marL="91440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OBJECT_2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372024" y="172908"/>
            <a:ext cx="6288300" cy="3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400" b="1" i="0">
                <a:solidFill>
                  <a:srgbClr val="0D37A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 2">
  <p:cSld name="Title 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384725" y="189911"/>
            <a:ext cx="8374500" cy="3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 i="0">
                <a:solidFill>
                  <a:srgbClr val="0D38A9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ftr" idx="11"/>
          </p:nvPr>
        </p:nvSpPr>
        <p:spPr>
          <a:xfrm>
            <a:off x="2424266" y="4986147"/>
            <a:ext cx="4311000" cy="1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>
            <a:endParaRPr/>
          </a:p>
        </p:txBody>
      </p:sp>
      <p:sp>
        <p:nvSpPr>
          <p:cNvPr id="54" name="Google Shape;54;p10"/>
          <p:cNvSpPr txBox="1">
            <a:spLocks noGrp="1"/>
          </p:cNvSpPr>
          <p:nvPr>
            <p:ph type="body" idx="1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115000"/>
              </a:lnSpc>
              <a:spcBef>
                <a:spcPts val="36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OBJECT_4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/>
          </p:nvPr>
        </p:nvSpPr>
        <p:spPr>
          <a:xfrm>
            <a:off x="275574" y="351128"/>
            <a:ext cx="6921600" cy="3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0" i="0">
                <a:solidFill>
                  <a:srgbClr val="434343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sldNum" idx="12"/>
          </p:nvPr>
        </p:nvSpPr>
        <p:spPr>
          <a:xfrm>
            <a:off x="8915998" y="4976665"/>
            <a:ext cx="2109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2"/>
          <p:cNvSpPr txBox="1">
            <a:spLocks noGrp="1"/>
          </p:cNvSpPr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 ">
  <p:cSld name="TITLE_AND_BODY_1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 1">
  <p:cSld name="OBJECT_1_1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4300" b="1" i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ftr" idx="11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dt" idx="10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sldNum" idx="12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2540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2540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540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540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40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540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540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2540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800"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2">
  <p:cSld name="Blank 2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able">
  <p:cSld name="CUSTOM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graphicFrame>
        <p:nvGraphicFramePr>
          <p:cNvPr id="76" name="Google Shape;76;p16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{F4365641-8200-4249-8B6C-B5293923BFB7}</a:tableStyleId>
              </a:tblPr>
              <a:tblGrid>
                <a:gridCol w="88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3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3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9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baseline="30000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marL="365760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marL="411480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_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18" descr="A close up of a logo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42814" t="18360" r="37292" b="1914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8"/>
          <p:cNvSpPr txBox="1">
            <a:spLocks noGrp="1"/>
          </p:cNvSpPr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85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8" name="Google Shape;88;p18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lang="en" sz="3300" b="0" i="0" u="none" strike="noStrike" cap="non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sz="3300" b="0" i="0" u="none" strike="noStrike" cap="non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89" name="Google Shape;8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873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Title and Conten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30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ftr" idx="11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5" name="Google Shape;95;p19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2 1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9" name="Google Shape;99;p20"/>
          <p:cNvSpPr txBox="1">
            <a:spLocks noGrp="1"/>
          </p:cNvSpPr>
          <p:nvPr>
            <p:ph type="sldNum" idx="12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2540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2540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540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540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40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540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540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2540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_2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>
            <a:spLocks noGrp="1"/>
          </p:cNvSpPr>
          <p:nvPr>
            <p:ph type="title"/>
          </p:nvPr>
        </p:nvSpPr>
        <p:spPr>
          <a:xfrm>
            <a:off x="202550" y="330841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100">
                <a:solidFill>
                  <a:schemeClr val="l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1"/>
          </p:nvPr>
        </p:nvSpPr>
        <p:spPr>
          <a:xfrm>
            <a:off x="202550" y="903537"/>
            <a:ext cx="8629800" cy="29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 sz="1300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3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2"/>
          <p:cNvSpPr txBox="1">
            <a:spLocks noGrp="1"/>
          </p:cNvSpPr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2"/>
          <p:cNvSpPr txBox="1">
            <a:spLocks noGrp="1"/>
          </p:cNvSpPr>
          <p:nvPr>
            <p:ph type="body" idx="1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marL="91440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106" name="Google Shape;106;p22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_AND_BODY_4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>
            <a:spLocks noGrp="1"/>
          </p:cNvSpPr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3"/>
          <p:cNvSpPr txBox="1">
            <a:spLocks noGrp="1"/>
          </p:cNvSpPr>
          <p:nvPr>
            <p:ph type="body" idx="1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marL="91440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110" name="Google Shape;110;p23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4 1">
  <p:cSld name="OBJECT_3_2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4"/>
          <p:cNvSpPr txBox="1">
            <a:spLocks noGrp="1"/>
          </p:cNvSpPr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>
            <a:endParaRPr/>
          </a:p>
        </p:txBody>
      </p:sp>
      <p:sp>
        <p:nvSpPr>
          <p:cNvPr id="113" name="Google Shape;113;p24"/>
          <p:cNvSpPr txBox="1">
            <a:spLocks noGrp="1"/>
          </p:cNvSpPr>
          <p:nvPr>
            <p:ph type="body" idx="1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115000"/>
              </a:lnSpc>
              <a:spcBef>
                <a:spcPts val="36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14" name="Google Shape;114;p24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5" name="Google Shape;115;p24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6" name="Google Shape;116;p24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 1 1">
  <p:cSld name="OBJECT_2_1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5"/>
          <p:cNvSpPr txBox="1">
            <a:spLocks noGrp="1"/>
          </p:cNvSpPr>
          <p:nvPr>
            <p:ph type="title"/>
          </p:nvPr>
        </p:nvSpPr>
        <p:spPr>
          <a:xfrm>
            <a:off x="372024" y="172908"/>
            <a:ext cx="6288300" cy="3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400" b="1" i="0">
                <a:solidFill>
                  <a:srgbClr val="0D37A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5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0" name="Google Shape;120;p25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1" name="Google Shape;121;p25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7"/>
          <p:cNvSpPr txBox="1">
            <a:spLocks noGrp="1"/>
          </p:cNvSpPr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7"/>
          <p:cNvSpPr txBox="1">
            <a:spLocks noGrp="1"/>
          </p:cNvSpPr>
          <p:nvPr>
            <p:ph type="body" idx="1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marL="91440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134" name="Google Shape;134;p27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8"/>
          <p:cNvSpPr txBox="1">
            <a:spLocks noGrp="1"/>
          </p:cNvSpPr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137" name="Google Shape;137;p28"/>
          <p:cNvSpPr txBox="1">
            <a:spLocks noGrp="1"/>
          </p:cNvSpPr>
          <p:nvPr>
            <p:ph type="subTitle" idx="1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29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able">
  <p:cSld name="CUSTOM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0"/>
          <p:cNvSpPr txBox="1">
            <a:spLocks noGrp="1"/>
          </p:cNvSpPr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graphicFrame>
        <p:nvGraphicFramePr>
          <p:cNvPr id="143" name="Google Shape;143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{F4365641-8200-4249-8B6C-B5293923BFB7}</a:tableStyleId>
              </a:tblPr>
              <a:tblGrid>
                <a:gridCol w="88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3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3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9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baseline="30000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4" name="Google Shape;144;p30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1"/>
          <p:cNvSpPr txBox="1">
            <a:spLocks noGrp="1"/>
          </p:cNvSpPr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48" name="Google Shape;148;p31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49" name="Google Shape;149;p31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2"/>
          <p:cNvSpPr txBox="1">
            <a:spLocks noGrp="1"/>
          </p:cNvSpPr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32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5" name="Google Shape;155;p33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3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9" name="Google Shape;159;p3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60" name="Google Shape;160;p3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marL="365760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marL="411480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>
            <a:endParaRPr/>
          </a:p>
        </p:txBody>
      </p:sp>
      <p:sp>
        <p:nvSpPr>
          <p:cNvPr id="161" name="Google Shape;161;p34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5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_1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36" descr="A close up of a logo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42815" t="18360" r="37295" b="1914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>
            <a:spLocks noGrp="1"/>
          </p:cNvSpPr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85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8" name="Google Shape;168;p3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lang="en" sz="3300" b="0" i="0" u="none" strike="noStrike" cap="non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sz="3300" b="0" i="0" u="none" strike="noStrike" cap="non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69" name="Google Shape;169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>
            <a:endParaRPr/>
          </a:p>
        </p:txBody>
      </p:sp>
      <p:sp>
        <p:nvSpPr>
          <p:cNvPr id="172" name="Google Shape;172;p37"/>
          <p:cNvSpPr txBox="1">
            <a:spLocks noGrp="1"/>
          </p:cNvSpPr>
          <p:nvPr>
            <p:ph type="body" idx="1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73" name="Google Shape;173;p37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4" name="Google Shape;174;p37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5" name="Google Shape;175;p37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8"/>
          <p:cNvSpPr txBox="1">
            <a:spLocks noGrp="1"/>
          </p:cNvSpPr>
          <p:nvPr>
            <p:ph type="dt" idx="10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8" name="Google Shape;178;p38"/>
          <p:cNvSpPr txBox="1">
            <a:spLocks noGrp="1"/>
          </p:cNvSpPr>
          <p:nvPr>
            <p:ph type="ftr" idx="11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9" name="Google Shape;179;p38"/>
          <p:cNvSpPr txBox="1">
            <a:spLocks noGrp="1"/>
          </p:cNvSpPr>
          <p:nvPr>
            <p:ph type="sldNum" idx="12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Title and Content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9"/>
          <p:cNvSpPr txBox="1">
            <a:spLocks noGrp="1"/>
          </p:cNvSpPr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30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39"/>
          <p:cNvSpPr txBox="1">
            <a:spLocks noGrp="1"/>
          </p:cNvSpPr>
          <p:nvPr>
            <p:ph type="body" idx="1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39"/>
          <p:cNvSpPr txBox="1">
            <a:spLocks noGrp="1"/>
          </p:cNvSpPr>
          <p:nvPr>
            <p:ph type="ftr" idx="11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4" name="Google Shape;184;p39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5" name="Google Shape;185;p39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0"/>
          <p:cNvSpPr txBox="1">
            <a:spLocks noGrp="1"/>
          </p:cNvSpPr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33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40"/>
          <p:cNvSpPr txBox="1">
            <a:spLocks noGrp="1"/>
          </p:cNvSpPr>
          <p:nvPr>
            <p:ph type="ftr" idx="11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9" name="Google Shape;189;p40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0" name="Google Shape;190;p40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_2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1"/>
          <p:cNvSpPr txBox="1">
            <a:spLocks noGrp="1"/>
          </p:cNvSpPr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33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41"/>
          <p:cNvSpPr txBox="1">
            <a:spLocks noGrp="1"/>
          </p:cNvSpPr>
          <p:nvPr>
            <p:ph type="ftr" idx="11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4" name="Google Shape;194;p41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5" name="Google Shape;195;p41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_3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42"/>
          <p:cNvSpPr txBox="1">
            <a:spLocks noGrp="1"/>
          </p:cNvSpPr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8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42"/>
          <p:cNvSpPr txBox="1">
            <a:spLocks noGrp="1"/>
          </p:cNvSpPr>
          <p:nvPr>
            <p:ph type="ftr" idx="11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600" b="0" i="0" u="none" strike="noStrike" cap="non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9" name="Google Shape;199;p42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00" name="Google Shape;200;p42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OBJECT_1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3"/>
          <p:cNvSpPr txBox="1">
            <a:spLocks noGrp="1"/>
          </p:cNvSpPr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5200" b="0" i="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43"/>
          <p:cNvSpPr txBox="1">
            <a:spLocks noGrp="1"/>
          </p:cNvSpPr>
          <p:nvPr>
            <p:ph type="subTitle" idx="1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43"/>
          <p:cNvSpPr txBox="1">
            <a:spLocks noGrp="1"/>
          </p:cNvSpPr>
          <p:nvPr>
            <p:ph type="ftr" idx="11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600" b="0" i="0" u="none" strike="noStrike" cap="non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05" name="Google Shape;205;p43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06" name="Google Shape;206;p43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OBJECT_2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4"/>
          <p:cNvSpPr txBox="1">
            <a:spLocks noGrp="1"/>
          </p:cNvSpPr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1400" b="1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44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0" name="Google Shape;210;p44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1" name="Google Shape;211;p44"/>
          <p:cNvSpPr txBox="1">
            <a:spLocks noGrp="1"/>
          </p:cNvSpPr>
          <p:nvPr>
            <p:ph type="sldNum" idx="12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2540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2540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540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540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40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540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540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2540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2">
  <p:cSld name="Blank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5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4" name="Google Shape;214;p45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5" name="Google Shape;215;p45"/>
          <p:cNvSpPr txBox="1">
            <a:spLocks noGrp="1"/>
          </p:cNvSpPr>
          <p:nvPr>
            <p:ph type="sldNum" idx="12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2540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2540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540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540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40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540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540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2540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6"/>
          <p:cNvSpPr txBox="1">
            <a:spLocks noGrp="1"/>
          </p:cNvSpPr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1400" b="1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46"/>
          <p:cNvSpPr txBox="1">
            <a:spLocks noGrp="1"/>
          </p:cNvSpPr>
          <p:nvPr>
            <p:ph type="body" idx="1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46"/>
          <p:cNvSpPr txBox="1">
            <a:spLocks noGrp="1"/>
          </p:cNvSpPr>
          <p:nvPr>
            <p:ph type="body" idx="2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46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1" name="Google Shape;221;p46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2" name="Google Shape;222;p46"/>
          <p:cNvSpPr txBox="1">
            <a:spLocks noGrp="1"/>
          </p:cNvSpPr>
          <p:nvPr>
            <p:ph type="sldNum" idx="12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2540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2540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540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540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40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540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540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2540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 1">
  <p:cSld name="OBJECT_1_1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7"/>
          <p:cNvSpPr txBox="1">
            <a:spLocks noGrp="1"/>
          </p:cNvSpPr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4300" b="1" i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47"/>
          <p:cNvSpPr txBox="1">
            <a:spLocks noGrp="1"/>
          </p:cNvSpPr>
          <p:nvPr>
            <p:ph type="ftr" idx="11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6" name="Google Shape;226;p47"/>
          <p:cNvSpPr txBox="1">
            <a:spLocks noGrp="1"/>
          </p:cNvSpPr>
          <p:nvPr>
            <p:ph type="dt" idx="10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7" name="Google Shape;227;p47"/>
          <p:cNvSpPr txBox="1">
            <a:spLocks noGrp="1"/>
          </p:cNvSpPr>
          <p:nvPr>
            <p:ph type="sldNum" idx="12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2540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2540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540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540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40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540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540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2540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800"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 ">
  <p:cSld name="TITLE_AND_BODY_1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2 1">
  <p:cSld name="Blank 2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_AND_BODY_4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_1"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52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3" name="Google Shape;243;p52" descr="A close up of a logo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42815" t="18360" r="37295" b="1914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52"/>
          <p:cNvSpPr txBox="1">
            <a:spLocks noGrp="1"/>
          </p:cNvSpPr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85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45" name="Google Shape;245;p52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lang="en" sz="3300" b="0" i="0" u="none" strike="noStrike" cap="non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sz="3300" b="0" i="0" u="none" strike="noStrike" cap="non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246" name="Google Shape;246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53"/>
          <p:cNvSpPr txBox="1">
            <a:spLocks noGrp="1"/>
          </p:cNvSpPr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249" name="Google Shape;249;p53"/>
          <p:cNvSpPr txBox="1">
            <a:spLocks noGrp="1"/>
          </p:cNvSpPr>
          <p:nvPr>
            <p:ph type="subTitle" idx="1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5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>
            <a:endParaRPr/>
          </a:p>
        </p:txBody>
      </p:sp>
      <p:sp>
        <p:nvSpPr>
          <p:cNvPr id="252" name="Google Shape;252;p54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55"/>
          <p:cNvSpPr txBox="1">
            <a:spLocks noGrp="1"/>
          </p:cNvSpPr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55"/>
          <p:cNvSpPr txBox="1">
            <a:spLocks noGrp="1"/>
          </p:cNvSpPr>
          <p:nvPr>
            <p:ph type="body" idx="1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marL="91440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256" name="Google Shape;256;p55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able">
  <p:cSld name="CUSTOM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56"/>
          <p:cNvSpPr txBox="1">
            <a:spLocks noGrp="1"/>
          </p:cNvSpPr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graphicFrame>
        <p:nvGraphicFramePr>
          <p:cNvPr id="259" name="Google Shape;259;p56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{F4365641-8200-4249-8B6C-B5293923BFB7}</a:tableStyleId>
              </a:tblPr>
              <a:tblGrid>
                <a:gridCol w="88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3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3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9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baseline="30000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0" name="Google Shape;260;p56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57"/>
          <p:cNvSpPr txBox="1">
            <a:spLocks noGrp="1"/>
          </p:cNvSpPr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5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4" name="Google Shape;264;p5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5" name="Google Shape;265;p57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58"/>
          <p:cNvSpPr txBox="1">
            <a:spLocks noGrp="1"/>
          </p:cNvSpPr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68" name="Google Shape;268;p58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71" name="Google Shape;271;p59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6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6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75" name="Google Shape;275;p6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76" name="Google Shape;276;p6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marL="365760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marL="411480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>
            <a:endParaRPr/>
          </a:p>
        </p:txBody>
      </p:sp>
      <p:sp>
        <p:nvSpPr>
          <p:cNvPr id="277" name="Google Shape;277;p60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61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40.xml"/><Relationship Id="rId17" Type="http://schemas.openxmlformats.org/officeDocument/2006/relationships/slideLayout" Target="../slideLayouts/slideLayout41.xml"/><Relationship Id="rId18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43.xml"/><Relationship Id="rId20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47.xml"/><Relationship Id="rId24" Type="http://schemas.openxmlformats.org/officeDocument/2006/relationships/slideLayout" Target="../slideLayouts/slideLayout48.xml"/><Relationship Id="rId25" Type="http://schemas.openxmlformats.org/officeDocument/2006/relationships/theme" Target="../theme/theme2.xml"/><Relationship Id="rId26" Type="http://schemas.openxmlformats.org/officeDocument/2006/relationships/image" Target="../media/image4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theme" Target="../theme/theme3.xml"/><Relationship Id="rId12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sz="22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0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0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0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0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0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0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0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0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sz="15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sz="13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sz="12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sz="9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sz="8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sz="7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sz="6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" marR="0" lvl="0" indent="0" algn="ctr" rtl="0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" sz="7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sz="700" b="1" i="0" u="none" strike="noStrike" cap="non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26">
            <a:alphaModFix/>
          </a:blip>
          <a:srcRect/>
          <a:stretch/>
        </p:blipFill>
        <p:spPr>
          <a:xfrm>
            <a:off x="7669500" y="68263"/>
            <a:ext cx="1395475" cy="57270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>
            <a:spLocks noGrp="1"/>
          </p:cNvSpPr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sz="22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>
            <a:endParaRPr/>
          </a:p>
        </p:txBody>
      </p:sp>
      <p:sp>
        <p:nvSpPr>
          <p:cNvPr id="124" name="Google Shape;124;p26"/>
          <p:cNvSpPr txBox="1">
            <a:spLocks noGrp="1"/>
          </p:cNvSpPr>
          <p:nvPr>
            <p:ph type="body" idx="1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sz="15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sz="13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sz="12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sz="9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sz="8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sz="7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sz="6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125" name="Google Shape;125;p26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" marR="0" lvl="0" indent="0" algn="ctr" rtl="0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" sz="7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sz="700" b="1" i="0" u="none" strike="noStrike" cap="non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6" name="Google Shape;126;p26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7" name="Google Shape;127;p26"/>
          <p:cNvPicPr preferRelativeResize="0"/>
          <p:nvPr/>
        </p:nvPicPr>
        <p:blipFill rotWithShape="1">
          <a:blip r:embed="rId26">
            <a:alphaModFix/>
          </a:blip>
          <a:srcRect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8" name="Google Shape;128;p26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9" name="Google Shape;129;p26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26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51"/>
          <p:cNvSpPr txBox="1">
            <a:spLocks noGrp="1"/>
          </p:cNvSpPr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sz="22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strike="noStrik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>
            <a:endParaRPr/>
          </a:p>
        </p:txBody>
      </p:sp>
      <p:sp>
        <p:nvSpPr>
          <p:cNvPr id="234" name="Google Shape;234;p51"/>
          <p:cNvSpPr txBox="1">
            <a:spLocks noGrp="1"/>
          </p:cNvSpPr>
          <p:nvPr>
            <p:ph type="body" idx="1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sz="15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sz="13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sz="12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sz="9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sz="8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sz="7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sz="6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235" name="Google Shape;235;p5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" marR="0" lvl="0" indent="0" algn="ctr" rtl="0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" sz="7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sz="700" b="1" i="0" u="none" strike="noStrike" cap="non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36" name="Google Shape;236;p51"/>
          <p:cNvSpPr txBox="1">
            <a:spLocks noGrp="1"/>
          </p:cNvSpPr>
          <p:nvPr>
            <p:ph type="sldNum" idx="12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37" name="Google Shape;237;p5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8" name="Google Shape;238;p5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239" name="Google Shape;239;p5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5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62"/>
          <p:cNvSpPr txBox="1"/>
          <p:nvPr/>
        </p:nvSpPr>
        <p:spPr>
          <a:xfrm>
            <a:off x="1005840" y="1188720"/>
            <a:ext cx="722376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</a:pPr>
            <a:r>
              <a:rPr b="1" sz="2800">
                <a:solidFill>
                  <a:srgbClr val="0E39A9"/>
                </a:solidFill>
              </a:rPr>
              <a:t>AI-Powered Support Ticket Intelligence</a:t>
            </a:r>
            <a:endParaRPr sz="4100" b="1" i="0" u="none" strike="noStrike" cap="none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85" name="Google Shape;285;p62"/>
          <p:cNvSpPr txBox="1"/>
          <p:nvPr/>
        </p:nvSpPr>
        <p:spPr>
          <a:xfrm>
            <a:off x="1005840" y="2240280"/>
            <a:ext cx="72237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</a:pPr>
            <a:r>
              <a:rPr sz="1500"/>
              <a:t>ShopNest Global  |  Project 1: Support Ticket Analysis</a:t>
            </a:r>
            <a:endParaRPr sz="2900" b="0" i="0" u="none" strike="noStrike" cap="none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indent="0">
              <a:buNone/>
            </a:pPr>
            <a:r>
              <a:rPr sz="1500"/>
              <a:t>Generative and Agentic AI Foundations  |  No-Code Track (n8n)</a:t>
            </a:r>
          </a:p>
        </p:txBody>
      </p:sp>
      <p:sp>
        <p:nvSpPr>
          <p:cNvPr id="286" name="Google Shape;286;p62"/>
          <p:cNvSpPr txBox="1"/>
          <p:nvPr/>
        </p:nvSpPr>
        <p:spPr>
          <a:xfrm>
            <a:off x="1005840" y="3154680"/>
            <a:ext cx="7223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</a:pPr>
            <a:r>
              <a:rPr sz="1300"/>
              <a:t>September 2026</a:t>
            </a:r>
            <a:endParaRPr sz="2200" b="0" i="0" u="none" strike="noStrike" cap="none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63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Contents / Agenda</a:t>
            </a:r>
            <a:endParaRPr sz="22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92" name="Google Shape;292;p63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43840" indent="-121920" algn="l" rtl="0">
              <a:lnSpc>
                <a:spcPts val="17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1200">
                <a:latin typeface="Montserrat"/>
              </a:rPr>
              <a:t>Executive Summary</a:t>
            </a:r>
            <a:endParaRPr sz="13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243840" indent="-121920" algn="l">
              <a:lnSpc>
                <a:spcPts val="1700"/>
              </a:lnSpc>
              <a:buChar char="•"/>
            </a:pPr>
            <a:r>
              <a:rPr sz="1200">
                <a:latin typeface="Montserrat"/>
              </a:rPr>
              <a:t>Business Problem Overview and Solution Approach</a:t>
            </a:r>
          </a:p>
          <a:p>
            <a:pPr marL="243840" indent="-121920" algn="l">
              <a:lnSpc>
                <a:spcPts val="1700"/>
              </a:lnSpc>
              <a:buChar char="•"/>
            </a:pPr>
            <a:r>
              <a:rPr sz="1200">
                <a:latin typeface="Montserrat"/>
              </a:rPr>
              <a:t>Solution Architecture</a:t>
            </a:r>
          </a:p>
          <a:p>
            <a:pPr marL="243840" indent="-121920" algn="l">
              <a:lnSpc>
                <a:spcPts val="1700"/>
              </a:lnSpc>
              <a:buChar char="•"/>
            </a:pPr>
            <a:r>
              <a:rPr sz="1200">
                <a:latin typeface="Montserrat"/>
              </a:rPr>
              <a:t>Data Loading</a:t>
            </a:r>
          </a:p>
          <a:p>
            <a:pPr marL="243840" indent="-121920" algn="l">
              <a:lnSpc>
                <a:spcPts val="1700"/>
              </a:lnSpc>
              <a:buChar char="•"/>
            </a:pPr>
            <a:r>
              <a:rPr sz="1200">
                <a:latin typeface="Montserrat"/>
              </a:rPr>
              <a:t>Summarization</a:t>
            </a:r>
          </a:p>
          <a:p>
            <a:pPr marL="243840" indent="-121920" algn="l">
              <a:lnSpc>
                <a:spcPts val="1700"/>
              </a:lnSpc>
              <a:buChar char="•"/>
            </a:pPr>
            <a:r>
              <a:rPr sz="1200">
                <a:latin typeface="Montserrat"/>
              </a:rPr>
              <a:t>Evaluation for Summarization</a:t>
            </a:r>
          </a:p>
          <a:p>
            <a:pPr marL="243840" indent="-121920" algn="l">
              <a:lnSpc>
                <a:spcPts val="1700"/>
              </a:lnSpc>
              <a:buChar char="•"/>
            </a:pPr>
            <a:r>
              <a:rPr sz="1200">
                <a:latin typeface="Montserrat"/>
              </a:rPr>
              <a:t>Response Generation</a:t>
            </a:r>
          </a:p>
          <a:p>
            <a:pPr marL="243840" indent="-121920" algn="l">
              <a:lnSpc>
                <a:spcPts val="1700"/>
              </a:lnSpc>
              <a:buChar char="•"/>
            </a:pPr>
            <a:r>
              <a:rPr sz="1200">
                <a:latin typeface="Montserrat"/>
              </a:rPr>
              <a:t>Evaluation for Response Generation</a:t>
            </a:r>
          </a:p>
          <a:p>
            <a:pPr marL="243840" indent="-121920" algn="l">
              <a:lnSpc>
                <a:spcPts val="1700"/>
              </a:lnSpc>
              <a:buChar char="•"/>
            </a:pPr>
            <a:r>
              <a:rPr sz="1200">
                <a:latin typeface="Montserrat"/>
              </a:rPr>
              <a:t>Output &amp; Compilation</a:t>
            </a:r>
          </a:p>
          <a:p>
            <a:pPr marL="243840" indent="-121920" algn="l">
              <a:lnSpc>
                <a:spcPts val="1700"/>
              </a:lnSpc>
              <a:buChar char="•"/>
            </a:pPr>
            <a:r>
              <a:rPr sz="1200">
                <a:latin typeface="Montserrat"/>
              </a:rPr>
              <a:t>Business Insights &amp; Recommendations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64"/>
          <p:cNvSpPr txBox="1">
            <a:spLocks noGrp="1"/>
          </p:cNvSpPr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SzPts val="2200"/>
            </a:pPr>
            <a:r>
              <a:rPr sz="2400">
                <a:solidFill>
                  <a:srgbClr val="0E39A9"/>
                </a:solidFill>
              </a:rPr>
              <a:t>Executive Summary</a:t>
            </a:r>
            <a:endParaRPr sz="2400">
              <a:solidFill>
                <a:srgbClr val="0E39A9"/>
              </a:solidFill>
            </a:endParaRPr>
          </a:p>
        </p:txBody>
      </p:sp>
      <p:sp>
        <p:nvSpPr>
          <p:cNvPr id="307" name="Google Shape;307;p64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33680" marR="0" indent="-116840" algn="l" rtl="0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</a:pPr>
            <a:r>
              <a:rPr sz="1150">
                <a:latin typeface="Montserrat"/>
              </a:rPr>
              <a:t>ShopNest processes 200,000+ orders a day. Every support ticket is read start to finish by a human before any work on it begins.</a:t>
            </a:r>
            <a:endParaRPr sz="14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33680" indent="-116840" algn="l">
              <a:lnSpc>
                <a:spcPts val="1600"/>
              </a:lnSpc>
              <a:buChar char="•"/>
            </a:pPr>
            <a:r>
              <a:rPr sz="1150">
                <a:latin typeface="Montserrat"/>
              </a:rPr>
              <a:t>Built a four-stage pipeline in n8n: summarise the ticket, score that summary, draft a policy-grounded reply, score that reply. All 30 tickets, end to end, unattended.</a:t>
            </a:r>
          </a:p>
          <a:p>
            <a:pPr marL="233680" indent="-116840" algn="l">
              <a:lnSpc>
                <a:spcPts val="1600"/>
              </a:lnSpc>
              <a:buChar char="•"/>
            </a:pPr>
            <a:r>
              <a:rPr sz="1150">
                <a:latin typeface="Montserrat"/>
              </a:rPr>
              <a:t>The two scoring stages are the point. They turn "the summaries look fine" into a number that can be tracked weekly, which is what makes this deployable rather than a demo.</a:t>
            </a:r>
          </a:p>
          <a:p>
            <a:pPr marL="233680" indent="-116840" algn="l">
              <a:lnSpc>
                <a:spcPts val="1600"/>
              </a:lnSpc>
              <a:buChar char="•"/>
            </a:pPr>
            <a:r>
              <a:rPr sz="1150">
                <a:latin typeface="Montserrat"/>
              </a:rPr>
              <a:t>Ticket length runs from 3 words to 184 (mean 80). The cost is the variance, not the average: an agent must read all 184 to learn whether the one useful line is even there.</a:t>
            </a:r>
          </a:p>
          <a:p>
            <a:pPr marL="233680" indent="-116840" algn="l">
              <a:lnSpc>
                <a:spcPts val="1600"/>
              </a:lnSpc>
              <a:buChar char="•"/>
            </a:pPr>
            <a:r>
              <a:rPr sz="1150">
                <a:latin typeface="Montserrat"/>
              </a:rPr>
              <a:t>10 of 30 tickets (33%) contain no order reference. No model can recover that. It is an intake problem and it is the single highest-value fix available.</a:t>
            </a:r>
          </a:p>
          <a:p>
            <a:pPr marL="233680" indent="-116840" algn="l">
              <a:lnSpc>
                <a:spcPts val="1600"/>
              </a:lnSpc>
              <a:buChar char="•"/>
            </a:pPr>
            <a:r>
              <a:rPr sz="1150">
                <a:latin typeface="Montserrat"/>
              </a:rPr>
              <a:t>Recommendation: deploy as agent-assist with the judge scores as the release gate, and make the order reference a required field at intake in parallel.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65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Business Problem Overview and Solution Approach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14" name="Google Shape;314;p65"/>
          <p:cNvSpPr txBox="1"/>
          <p:nvPr/>
        </p:nvSpPr>
        <p:spPr>
          <a:xfrm>
            <a:off x="548640" y="1051560"/>
            <a:ext cx="8092440" cy="1705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buNone/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b="1" sz="1100">
                <a:solidFill>
                  <a:srgbClr val="0E39A9"/>
                </a:solidFill>
                <a:latin typeface="Montserrat"/>
              </a:rPr>
              <a:t>The problem</a:t>
            </a:r>
            <a:endParaRPr sz="14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2,000+ agents working 24/7 across the US, Europe, India and Southeast Asia.</a:t>
            </a: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Every ticket arrives as unstructured free text - rambling, terse, furious, or all three.</a:t>
            </a: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Agents spend the opening minutes of each ticket reading rather than resolving.</a:t>
            </a: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Reply quality is checked by sampling, so most replies are never reviewed at all.</a:t>
            </a:r>
          </a:p>
        </p:txBody>
      </p:sp>
      <p:sp>
        <p:nvSpPr>
          <p:cNvPr id="316" name="Google Shape;316;p65"/>
          <p:cNvSpPr txBox="1"/>
          <p:nvPr/>
        </p:nvSpPr>
        <p:spPr>
          <a:xfrm>
            <a:off x="548640" y="2866644"/>
            <a:ext cx="8092440" cy="1705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buNone/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b="1" sz="1100">
                <a:solidFill>
                  <a:srgbClr val="0E39A9"/>
                </a:solidFill>
                <a:latin typeface="Montserrat"/>
              </a:rPr>
              <a:t>The approach</a:t>
            </a:r>
            <a:endParaRPr sz="1400" b="0" i="0" u="none" strike="noStrike" cap="none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Four LLM stages chained in n8n: summarise, judge, respond, judge.</a:t>
            </a: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Each output is scored by an independent LLM-as-a-Judge against fixed, published criteria.</a:t>
            </a: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Replies are grounded in ShopNest's four support policies, embedded in the system message.</a:t>
            </a: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One consolidated CSV: ticket, summary, reply and every score, on a single row.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73"/>
          <p:cNvSpPr txBox="1">
            <a:spLocks noGrp="1"/>
          </p:cNvSpPr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SzPts val="2200"/>
            </a:pPr>
            <a:r>
              <a:rPr sz="2400">
                <a:solidFill>
                  <a:srgbClr val="0E39A9"/>
                </a:solidFill>
              </a:rPr>
              <a:t>Solution Architecture - 9 nodes, 4 AI stages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396" name="Google Shape;396;p73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13360" marR="0" indent="-106680" algn="l" rtl="0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</a:pPr>
            <a:r>
              <a:rPr sz="1050">
                <a:latin typeface="Montserrat"/>
              </a:rPr>
              <a:t>1-2  Read/Write Files from Disk, then Extract from File - the CSV becomes 30 n8n items.</a:t>
            </a: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13360" indent="-106680" algn="l">
              <a:lnSpc>
                <a:spcPts val="1400"/>
              </a:lnSpc>
              <a:buChar char="•"/>
            </a:pPr>
            <a:r>
              <a:rPr sz="1050">
                <a:latin typeface="Montserrat"/>
              </a:rPr>
              <a:t>3  Summarization - Basic LLM Chain.</a:t>
            </a:r>
          </a:p>
          <a:p>
            <a:pPr marL="213360" indent="-106680" algn="l">
              <a:lnSpc>
                <a:spcPts val="1400"/>
              </a:lnSpc>
              <a:buChar char="•"/>
            </a:pPr>
            <a:r>
              <a:rPr sz="1050">
                <a:latin typeface="Montserrat"/>
              </a:rPr>
              <a:t>4  Evaluation for Summarization - Basic LLM Chain.</a:t>
            </a:r>
          </a:p>
          <a:p>
            <a:pPr marL="213360" indent="-106680" algn="l">
              <a:lnSpc>
                <a:spcPts val="1400"/>
              </a:lnSpc>
              <a:buChar char="•"/>
            </a:pPr>
            <a:r>
              <a:rPr sz="1050">
                <a:latin typeface="Montserrat"/>
              </a:rPr>
              <a:t>5  Response Generation - Basic LLM Chain.</a:t>
            </a:r>
          </a:p>
          <a:p>
            <a:pPr marL="213360" indent="-106680" algn="l">
              <a:lnSpc>
                <a:spcPts val="1400"/>
              </a:lnSpc>
              <a:buChar char="•"/>
            </a:pPr>
            <a:r>
              <a:rPr sz="1050">
                <a:latin typeface="Montserrat"/>
              </a:rPr>
              <a:t>6  Evaluation for Response Generation - Basic LLM Chain.</a:t>
            </a:r>
          </a:p>
          <a:p>
            <a:pPr marL="213360" indent="-106680" algn="l">
              <a:lnSpc>
                <a:spcPts val="1400"/>
              </a:lnSpc>
              <a:buChar char="•"/>
            </a:pPr>
            <a:r>
              <a:rPr sz="1050">
                <a:latin typeface="Montserrat"/>
              </a:rPr>
              <a:t>7-9  Edit Fields, Convert to File, Read/Write Files - one consolidated CSV out.</a:t>
            </a:r>
          </a:p>
          <a:p>
            <a:pPr marL="213360" indent="-106680" algn="l">
              <a:lnSpc>
                <a:spcPts val="1400"/>
              </a:lnSpc>
              <a:buChar char="•"/>
            </a:pPr>
            <a:r>
              <a:rPr sz="1050">
                <a:latin typeface="Montserrat"/>
              </a:rPr>
              <a:t>Each of the four AI stages carries two sub-nodes: an OpenAI Chat Model and a Structured Output Parser with a manual schema. 18 nodes in total.</a:t>
            </a:r>
          </a:p>
          <a:p>
            <a:pPr marL="213360" indent="-106680" algn="l">
              <a:lnSpc>
                <a:spcPts val="1400"/>
              </a:lnSpc>
              <a:buChar char="•"/>
            </a:pPr>
            <a:r>
              <a:rPr sz="1050">
                <a:latin typeface="Montserrat"/>
              </a:rPr>
              <a:t>There is no loop node. n8n's chain nodes process every input item, so 30 tickets in gives 30 items out at every stage.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66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Data Loading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23" name="Google Shape;323;p66"/>
          <p:cNvSpPr txBox="1"/>
          <p:nvPr/>
        </p:nvSpPr>
        <p:spPr>
          <a:xfrm>
            <a:off x="548640" y="2866644"/>
            <a:ext cx="8092440" cy="1705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buNone/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b="1" sz="1100">
                <a:solidFill>
                  <a:srgbClr val="0E39A9"/>
                </a:solidFill>
                <a:latin typeface="Montserrat"/>
              </a:rPr>
              <a:t>What the data actually looks like</a:t>
            </a: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30 tickets. Length 3 to 184 words; mean 80, median 57.</a:t>
            </a: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4 tickets under 20 words, 9 over 120. The spread is the problem, not the average.</a:t>
            </a: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20 of 30 carry an order reference. 10 carry none. One carries two different ones.</a:t>
            </a: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4 tickets contain legal or regulatory escalation language.</a:t>
            </a:r>
          </a:p>
        </p:txBody>
      </p:sp>
      <p:sp>
        <p:nvSpPr>
          <p:cNvPr id="325" name="Google Shape;325;p66"/>
          <p:cNvSpPr txBox="1"/>
          <p:nvPr/>
        </p:nvSpPr>
        <p:spPr>
          <a:xfrm>
            <a:off x="548640" y="1051560"/>
            <a:ext cx="8092440" cy="1705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buNone/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b="1" sz="1100">
                <a:solidFill>
                  <a:srgbClr val="0E39A9"/>
                </a:solidFill>
                <a:latin typeface="Montserrat"/>
              </a:rPr>
              <a:t>How the data is loaded</a:t>
            </a: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Read/Write Files from Disk reads support_ticket_data.csv from the lab file store.</a:t>
            </a: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Extract from File converts it to one item per ticket - 30 items, two columns: support_ticket_id and support_ticket_desc.</a:t>
            </a:r>
          </a:p>
          <a:p>
            <a:pPr marL="193040" indent="-96520" algn="l">
              <a:lnSpc>
                <a:spcPts val="1280"/>
              </a:lnSpc>
              <a:buChar char="•"/>
            </a:pPr>
            <a:r>
              <a:rPr sz="950">
                <a:latin typeface="Montserrat"/>
              </a:rPr>
              <a:t>BOM handling is switched on. The file opens with a byte-order mark which would otherwise become part of the first column's name, making support_ticket_id unreadable with no error.</a:t>
            </a:r>
          </a:p>
        </p:txBody>
      </p:sp>
      <p:sp>
        <p:nvSpPr>
          <p:cNvPr id="326" name="Google Shape;326;p66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21" name="Google Shape;321;p66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Data Loading - Output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23" name="Google Shape;323;p66"/>
          <p:cNvSpPr txBox="1"/>
          <p:nvPr/>
        </p:nvSpPr>
        <p:spPr>
          <a:xfrm>
            <a:off x="548640" y="2866644"/>
            <a:ext cx="8092440" cy="1705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5" name="Google Shape;325;p66"/>
          <p:cNvSpPr txBox="1"/>
          <p:nvPr/>
        </p:nvSpPr>
        <p:spPr>
          <a:xfrm>
            <a:off x="548640" y="1051560"/>
            <a:ext cx="8092440" cy="1705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buNone/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r>
              <a:rPr b="1" sz="1200">
                <a:solidFill>
                  <a:srgbClr val="C00000"/>
                </a:solidFill>
                <a:latin typeface="Montserrat"/>
              </a:rPr>
              <a:t>[ SCREENSHOT: Extract from File - output panel ]</a:t>
            </a: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lnSpc>
                <a:spcPts val="1400"/>
              </a:lnSpc>
              <a:buNone/>
            </a:pPr>
            <a:r>
              <a:rPr i="1" sz="1000">
                <a:latin typeface="Montserrat"/>
              </a:rPr>
              <a:t>Must show the item count (30 items) and at least one full row of data, per the guidelines.</a:t>
            </a:r>
          </a:p>
          <a:p>
            <a:pPr marL="213360" indent="-106680" algn="l">
              <a:lnSpc>
                <a:spcPts val="1400"/>
              </a:lnSpc>
              <a:buChar char="•"/>
            </a:pPr>
            <a:r>
              <a:rPr sz="1050">
                <a:latin typeface="Montserrat"/>
              </a:rPr>
              <a:t>Confirms 30 items parsed and both columns present.</a:t>
            </a:r>
          </a:p>
          <a:p>
            <a:pPr marL="213360" indent="-106680" algn="l">
              <a:lnSpc>
                <a:spcPts val="1400"/>
              </a:lnSpc>
              <a:buChar char="•"/>
            </a:pPr>
            <a:r>
              <a:rPr sz="1050">
                <a:latin typeface="Montserrat"/>
              </a:rPr>
              <a:t>The shortest ticket in the set, in full: "refund not received".</a:t>
            </a:r>
          </a:p>
        </p:txBody>
      </p:sp>
      <p:sp>
        <p:nvSpPr>
          <p:cNvPr id="326" name="Google Shape;326;p66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67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Summarization - Setup and Prompts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34" name="Google Shape;334;p67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35" name="Google Shape;335;p67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03200" indent="-101600" algn="l" rtl="0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000">
                <a:latin typeface="Montserrat"/>
              </a:rPr>
              <a:t>Model: gpt-4o-mini via the lab's Great Learning credential. Summarising is extraction, not reasoning - a small, fast model is the right cost and latency choice at this volume.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Temperature 0.2. Near-deterministic on purpose: creative variation in a summary shows up as invented detail, which is the one failure this stage must not have.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Max tokens 400. A summary longer than that has stopped being a summary.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Technique: zero-shot, role-based, with an explicit output contract. No few-shot examples - these 30 tickets share no common shape, so an example would bias every summary toward it.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System message rules: never invent; copy identifiers character for character; strip emotion but keep operationally relevant facts; expand shorthand; two to four sentences.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Structured Output Parser, manual schema: { summary: string }.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31" name="Google Shape;331;p67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Summarization - Output &amp; Observations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34" name="Google Shape;334;p67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35" name="Google Shape;335;p67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buNone/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1" sz="1200">
                <a:solidFill>
                  <a:srgbClr val="C00000"/>
                </a:solidFill>
                <a:latin typeface="Montserrat"/>
              </a:rPr>
              <a:t>[ SCREENSHOT: Summarization node - INPUT and OUTPUT panels ]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lnSpc>
                <a:spcPts val="1400"/>
              </a:lnSpc>
              <a:buNone/>
            </a:pPr>
            <a:r>
              <a:rPr i="1" sz="1000">
                <a:latin typeface="Montserrat"/>
              </a:rPr>
              <a:t>Both panels open, 30 items visible in each, per the guidelines.</a:t>
            </a:r>
          </a:p>
          <a:p>
            <a:pPr marL="0" indent="0">
              <a:lnSpc>
                <a:spcPts val="1600"/>
              </a:lnSpc>
              <a:buNone/>
            </a:pPr>
            <a:r>
              <a:rPr b="1" sz="1150">
                <a:solidFill>
                  <a:srgbClr val="0E39A9"/>
                </a:solidFill>
                <a:latin typeface="Montserrat"/>
              </a:rPr>
              <a:t>Observations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TO FILL FROM THE RUN: how the summariser handled the 184-word ticket, and whether it correctly refused to invent an order reference on the 10 tickets that lack one.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TO FILL FROM THE RUN: behaviour on the three-word ticket - an honest short summary, or padding.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8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Evaluation for Summarization - Criteria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47" name="Google Shape;347;p68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48" name="Google Shape;348;p68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03200" indent="-101600" algn="l" rtl="0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000">
                <a:latin typeface="Montserrat"/>
              </a:rPr>
              <a:t>Model: gpt-4o-mini. Temperature 0.0 - a score that moves between runs cannot be used to track quality over time, so the judge is made as reproducible as the API allows.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Information Extraction (1-3): is every statement supported by the ticket, and are all identifiers, dates and amounts reproduced exactly.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Field Coverage (1-3): did the summary carry across the problem, the order reference, the product and the requested resolution - and leave the padding behind.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Hard rule: a hallucinated or altered identifier scores 1 automatically. An agent acting on a wrong order number does damage to a real customer's account.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Coverage is judged against what the ticket actually contains. A missing order reference is not penalised - but inventing one is an Extraction failure, not good coverage.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The judge must quote the specific detail that drove each score. Generic praise is disallowed, and it is told not to award 3 by default: merely acceptable scores 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4" name="Google Shape;344;p68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Evaluation for Summarization - Output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47" name="Google Shape;347;p68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48" name="Google Shape;348;p68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buNone/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1" sz="1200">
                <a:solidFill>
                  <a:srgbClr val="C00000"/>
                </a:solidFill>
                <a:latin typeface="Montserrat"/>
              </a:rPr>
              <a:t>[ SCREENSHOT: Evaluation for Summarization - INPUT and OUTPUT panels ]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lnSpc>
                <a:spcPts val="1400"/>
              </a:lnSpc>
              <a:buNone/>
            </a:pPr>
            <a:r>
              <a:rPr i="1" sz="1000">
                <a:latin typeface="Montserrat"/>
              </a:rPr>
              <a:t>Input showing the summary, output showing the scores, 30 items.</a:t>
            </a:r>
          </a:p>
          <a:p>
            <a:pPr marL="0" indent="0">
              <a:lnSpc>
                <a:spcPts val="1600"/>
              </a:lnSpc>
              <a:buNone/>
            </a:pPr>
            <a:r>
              <a:rPr b="1" sz="1150">
                <a:solidFill>
                  <a:srgbClr val="0E39A9"/>
                </a:solidFill>
                <a:latin typeface="Montserrat"/>
              </a:rPr>
              <a:t>Observations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TO FILL FROM THE RUN: mean Information Extraction and Field Coverage across 30 tickets, and how many scored below 3 on either.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TO FILL FROM THE RUN: whether low Field Coverage clusters on the tickets that have no order reference - which would show the judge is measuring the data, not the model.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69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Response Generation - Setup and Prompts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58" name="Google Shape;358;p69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59" name="Google Shape;359;p69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03200" indent="-101600" algn="l" rtl="0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000">
                <a:latin typeface="Montserrat"/>
              </a:rPr>
              <a:t>Model: gpt-4o-mini. Temperature 0.4 - enough variation for natural, non-templated warmth. Policy compliance is enforced by the system message, not by lowering the temperature.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Max tokens 600. Target length 110-180 words.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Written from the SUMMARY, not the raw ticket. That is the point of summarising first, and it keeps abuse and legal threats out of the reply path entirely.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Technique: zero-shot role prompt with a fixed five-step structure - acknowledge the specific problem, match it to a policy, state the action and its timeframe, state the customer's next step, close.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Structured Output Parser, manual schema: { response: string }.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Fixed format: opens "Dear Customer," and signs off "The ShopNest Support Team".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5" name="Google Shape;355;p69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Response Generation - Embedded Policies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58" name="Google Shape;358;p69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59" name="Google Shape;359;p69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03200" indent="-101600" algn="l" rtl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000">
                <a:latin typeface="Montserrat"/>
              </a:rPr>
              <a:t>Refund &amp; Return: full refund or replacement within 10 days of delivery; after 10 days case by case; refunds processed 5-7 business days after pickup and verification; digital payments to the original source; COD by bank transfer within 7 business days.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marL="203200" indent="-101600" algn="l">
              <a:lnSpc>
                <a:spcPts val="1350"/>
              </a:lnSpc>
              <a:buChar char="•"/>
            </a:pPr>
            <a:r>
              <a:rPr sz="1000">
                <a:latin typeface="Montserrat"/>
              </a:rPr>
              <a:t>Delivery Delay Compensation: more than 3 days late, Rs 100 ShopNest voucher; beyond 7 days with no resolution, full refund without returning the item; revised date communicated proactively.</a:t>
            </a:r>
          </a:p>
          <a:p>
            <a:pPr marL="203200" indent="-101600" algn="l">
              <a:lnSpc>
                <a:spcPts val="1350"/>
              </a:lnSpc>
              <a:buChar char="•"/>
            </a:pPr>
            <a:r>
              <a:rPr sz="1000">
                <a:latin typeface="Montserrat"/>
              </a:rPr>
              <a:t>Wrong / Damaged Item: free replacement or full refund; pickup arranged within 2 business days; no return shipping cost to the customer; photographic evidence may be requested.</a:t>
            </a:r>
          </a:p>
          <a:p>
            <a:pPr marL="203200" indent="-101600" algn="l">
              <a:lnSpc>
                <a:spcPts val="1350"/>
              </a:lnSpc>
              <a:buChar char="•"/>
            </a:pPr>
            <a:r>
              <a:rPr sz="1000">
                <a:latin typeface="Montserrat"/>
              </a:rPr>
              <a:t>Payment Failure: deducted but unconfirmed, auto-reversed in 3-5 business days; not reversed after 5 days, customer shares the transaction reference; do not retry payment until the deduction is reversed.</a:t>
            </a:r>
          </a:p>
          <a:p>
            <a:pPr marL="203200" indent="-101600" algn="l">
              <a:lnSpc>
                <a:spcPts val="1350"/>
              </a:lnSpc>
              <a:buChar char="•"/>
            </a:pPr>
            <a:r>
              <a:rPr sz="1000">
                <a:latin typeface="Montserrat"/>
              </a:rPr>
              <a:t>Guardrails: never promise beyond these policies; never invent an order number, date or amount; never engage with a legal threat; ask for at most three missing details.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5" name="Google Shape;355;p69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Response Generation - Output &amp; Observations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58" name="Google Shape;358;p69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59" name="Google Shape;359;p69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buNone/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1" sz="1200">
                <a:solidFill>
                  <a:srgbClr val="C00000"/>
                </a:solidFill>
                <a:latin typeface="Montserrat"/>
              </a:rPr>
              <a:t>[ SCREENSHOT: Response Generation node - INPUT and OUTPUT panels ]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lnSpc>
                <a:spcPts val="1400"/>
              </a:lnSpc>
              <a:buNone/>
            </a:pPr>
            <a:r>
              <a:rPr i="1" sz="1000">
                <a:latin typeface="Montserrat"/>
              </a:rPr>
              <a:t>Input showing the summary, output showing the generated reply, 30 items.</a:t>
            </a:r>
          </a:p>
          <a:p>
            <a:pPr marL="0" indent="0">
              <a:lnSpc>
                <a:spcPts val="1600"/>
              </a:lnSpc>
              <a:buNone/>
            </a:pPr>
            <a:r>
              <a:rPr b="1" sz="1150">
                <a:solidFill>
                  <a:srgbClr val="0E39A9"/>
                </a:solidFill>
                <a:latin typeface="Montserrat"/>
              </a:rPr>
              <a:t>Observations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TO FILL FROM THE RUN: whether the four escalation-flagged tickets were answered on the service problem alone, without engaging the threat.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TO FILL FROM THE RUN: whether replies to the 10 tickets with no order reference asked for it, rather than inventing one or answering vaguely.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Evaluation for Response - Criteria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72" name="Google Shape;372;p70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73" name="Google Shape;373;p70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03200" indent="-101600" algn="l" rtl="0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000">
                <a:latin typeface="Montserrat"/>
              </a:rPr>
              <a:t>Model: gpt-4o-mini. Temperature 0.0, for the same reproducibility reason as the first judge.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The judge is given the same four policies as the generator, so it audits against the rules the generator was actually handed rather than its own idea of them.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Issue Addressal (1-3): does the reply answer the real problem, and does every commitment, timeframe and entitlement it states match policy.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Resolution Clarity (1-3): after one read, does the customer know who does what and by when, and is the tone right for how upset they are.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overall_score is the sum of the two, so it ranges 2 to 6. It is computed, not estimated - and the output checker re-derives it to confirm.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Hard rule: any promise outside policy, or any invented identifier or date, scores 1. A fluent reply that commits ShopNest to something it never agreed to is worse than a clumsy one, because it will be honoured.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69" name="Google Shape;369;p70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Evaluation for Response - Output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72" name="Google Shape;372;p70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73" name="Google Shape;373;p70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buNone/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1" sz="1200">
                <a:solidFill>
                  <a:srgbClr val="C00000"/>
                </a:solidFill>
                <a:latin typeface="Montserrat"/>
              </a:rPr>
              <a:t>[ SCREENSHOT: Evaluation for Response Generation - INPUT and OUTPUT panels ]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lnSpc>
                <a:spcPts val="1400"/>
              </a:lnSpc>
              <a:buNone/>
            </a:pPr>
            <a:r>
              <a:rPr i="1" sz="1000">
                <a:latin typeface="Montserrat"/>
              </a:rPr>
              <a:t>Input showing summary and reply, output showing the scores, 30 items.</a:t>
            </a:r>
          </a:p>
          <a:p>
            <a:pPr marL="0" indent="0">
              <a:lnSpc>
                <a:spcPts val="1600"/>
              </a:lnSpc>
              <a:buNone/>
            </a:pPr>
            <a:r>
              <a:rPr b="1" sz="1150">
                <a:solidFill>
                  <a:srgbClr val="0E39A9"/>
                </a:solidFill>
                <a:latin typeface="Montserrat"/>
              </a:rPr>
              <a:t>Observations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TO FILL FROM THE RUN: mean Issue Addressal, Resolution Clarity and overall score, and how many replies would be safe to auto-send under the gate proposed later.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TO FILL FROM THE RUN: any reply the judge marked down for an off-policy promise - the most commercially expensive failure this pipeline can make.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71"/>
          <p:cNvSpPr txBox="1"/>
          <p:nvPr/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spcBef>
                <a:spcPts val="0"/>
              </a:spcBef>
              <a:spcAft>
                <a:spcPts val="0"/>
              </a:spcAft>
            </a:pPr>
            <a:r>
              <a:rPr b="1" sz="2400">
                <a:solidFill>
                  <a:schemeClr val="lt2"/>
                </a:solidFill>
                <a:latin typeface="Nunito"/>
              </a:rPr>
              <a:t>Output &amp; Compilation</a:t>
            </a:r>
            <a:endParaRPr sz="2400" b="1">
              <a:solidFill>
                <a:srgbClr val="0E39A9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82" name="Google Shape;382;p71"/>
          <p:cNvSpPr txBox="1"/>
          <p:nvPr/>
        </p:nvSpPr>
        <p:spPr>
          <a:xfrm>
            <a:off x="325250" y="4389875"/>
            <a:ext cx="8397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1" u="none" strike="noStrike" cap="non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83" name="Google Shape;383;p71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buNone/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1" sz="1200">
                <a:solidFill>
                  <a:srgbClr val="C00000"/>
                </a:solidFill>
                <a:latin typeface="Montserrat"/>
              </a:rPr>
              <a:t>[ SCREENSHOT: the consolidated CSV, or the Edit Fields output panel ]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Edit Fields maps each stage's output onto one flat row; Convert to File makes the CSV; Read/Write Files saves it back to the lab file store.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30 rows, 14 columns. The first four are the ones the brief names: support_ticket_id, support_ticket_desc, summarisation, response_generation.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The other ten are the four criterion scores, the overall, and the judge's written reasoning for each - so every score sits beside the text that earned it.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The execution status is NOT the verification. n8n's output parser returns an empty object when a model reply is the wrong shape, and raises nothing: all nodes green, 30 rows written, every generated column blank. This happened once during the build.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So the finished CSV is checked instead: row count, required columns present, no blank cells, every score inside range, and overall_score equal to the sum of its parts.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94" name="Google Shape;394;p73"/>
          <p:cNvSpPr txBox="1">
            <a:spLocks noGrp="1"/>
          </p:cNvSpPr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SzPts val="2200"/>
            </a:pPr>
            <a:r>
              <a:rPr sz="2400">
                <a:solidFill>
                  <a:srgbClr val="0E39A9"/>
                </a:solidFill>
              </a:rPr>
              <a:t>Business Insights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396" name="Google Shape;396;p73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03200" marR="0" indent="-101600" algn="l" rtl="0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</a:pPr>
            <a:r>
              <a:rPr sz="1000">
                <a:latin typeface="Montserrat"/>
              </a:rPr>
              <a:t>One ticket in three (10 of 30) contains no order reference. Those cannot be actioned by anyone, human or model - they always cost a second round trip before work can start.</a:t>
            </a: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Ticket length spans 3 to 184 words. The expense is the variance: an agent has to read all 184 words to discover whether the one line that matters is present at all.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The shortest ticket in the set, complete: "refund not received". No order, no date, no amount. It is 0.4% of the longest ticket's length and needs the same human attention.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One ticket cites two different order references. Automation that silently picks one is worse than automation that flags the ambiguity.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4 of 30 tickets use legal or regulatory escalation language - and these are exactly the tickets where an off-policy promise is most expensive to honour.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Emotional content is a large share of the words and almost none of the information. That is precisely what the summarisation stage removes, and why it saves real reading time.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94" name="Google Shape;394;p73"/>
          <p:cNvSpPr txBox="1">
            <a:spLocks noGrp="1"/>
          </p:cNvSpPr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SzPts val="2200"/>
            </a:pPr>
            <a:r>
              <a:rPr sz="2400">
                <a:solidFill>
                  <a:srgbClr val="0E39A9"/>
                </a:solidFill>
              </a:rPr>
              <a:t>Recommendations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396" name="Google Shape;396;p73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03200" marR="0" indent="-101600" algn="l" rtl="0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</a:pPr>
            <a:r>
              <a:rPr sz="1000">
                <a:latin typeface="Montserrat"/>
              </a:rPr>
              <a:t>Deploy as agent-assist, not auto-send. The pipeline drafts; a human sends. The scores make that review queue triageable instead of random.</a:t>
            </a: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Use the judge as a release gate: auto-send only where both criteria score 3 and no policy flag is raised. Everything else goes to a person. Widen the gate as evidence accumulates.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Fix the intake form before spending anything on a bigger model. Making the order reference required addresses a third of this dataset at near-zero cost - no model upgrade competes.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Route ambiguous and escalation-flagged tickets to senior agents automatically. The pipeline already identifies both categories at no extra cost.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Track the mean scores weekly. Drift in Information Extraction is an early warning of a prompt or model regression - visible before customers start complaining about it.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Before production: add a human-review queue, monitor cost per ticket, and validate the judge itself against a held-out set scored by people. An unvalidated judge is an opinion.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72"/>
          <p:cNvSpPr/>
          <p:nvPr/>
        </p:nvSpPr>
        <p:spPr>
          <a:xfrm>
            <a:off x="0" y="3442950"/>
            <a:ext cx="9162600" cy="780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72"/>
          <p:cNvSpPr txBox="1"/>
          <p:nvPr/>
        </p:nvSpPr>
        <p:spPr>
          <a:xfrm>
            <a:off x="32525" y="3526575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buNone/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</a:pPr>
            <a:r>
              <a:rPr b="1" sz="2400">
                <a:solidFill>
                  <a:schemeClr val="lt1"/>
                </a:solidFill>
              </a:rPr>
              <a:t>APPENDIX</a:t>
            </a:r>
            <a:endParaRPr sz="2800" b="1" i="0" u="none" strike="noStrike" cap="none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94" name="Google Shape;394;p73"/>
          <p:cNvSpPr txBox="1">
            <a:spLocks noGrp="1"/>
          </p:cNvSpPr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SzPts val="2200"/>
            </a:pPr>
            <a:r>
              <a:rPr sz="2400">
                <a:solidFill>
                  <a:srgbClr val="0E39A9"/>
                </a:solidFill>
              </a:rPr>
              <a:t>Appendix - Node Inventory and Versions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396" name="Google Shape;396;p73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03200" marR="0" indent="-101600" algn="l" rtl="0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</a:pPr>
            <a:r>
              <a:rPr sz="1000">
                <a:latin typeface="Montserrat"/>
              </a:rPr>
              <a:t>Manual Trigger v1 - Read/Write Files from Disk v1 (x2) - Extract from File v1.</a:t>
            </a: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Basic LLM Chain v1.6 (x4) - OpenAI Chat Model v1.2 (x4) - Structured Output Parser v1.2 (x4).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Edit Fields (Set) v3.4 - Convert to File v1.1. Eighteen nodes in total.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Basic LLM Chain at 1.6 is the binding constraint: roughly n8n 1.60 and above imports the workflow file cleanly.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Credential: Great Learning AI (OpenAI + Gemini), provided by the lab environment.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Schema field names and output column names are taken verbatim from the project guidelines; the 1-3 scoring scale is taken from the course reference notebook.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94" name="Google Shape;394;p73"/>
          <p:cNvSpPr txBox="1">
            <a:spLocks noGrp="1"/>
          </p:cNvSpPr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buNone/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SzPts val="2200"/>
            </a:pPr>
            <a:r>
              <a:rPr sz="2400">
                <a:solidFill>
                  <a:srgbClr val="0E39A9"/>
                </a:solidFill>
              </a:rPr>
              <a:t>Appendix - Reproducing the Run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396" name="Google Shape;396;p73"/>
          <p:cNvSpPr txBox="1"/>
          <p:nvPr/>
        </p:nvSpPr>
        <p:spPr>
          <a:xfrm>
            <a:off x="548640" y="1051560"/>
            <a:ext cx="809244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03200" marR="0" indent="-101600" algn="l" rtl="0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</a:pPr>
            <a:r>
              <a:rPr sz="1000">
                <a:latin typeface="Montserrat"/>
              </a:rPr>
              <a:t>Import the workflow JSON, then select the credential in each of the four OpenAI Chat Model sub-nodes.</a:t>
            </a: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Set two paths only - Read Ticket CSV (file selector) and Save the Data (file name). Both are labelled EDIT ME in the workflow.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Execute. 30 tickets produce 120 model calls: exactly 30 per stage.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Verify the CSV, not the canvas. Row count, all 14 columns populated, scores within range, overall equal to the sum of its parts.</a:t>
            </a:r>
          </a:p>
          <a:p>
            <a:pPr marL="203200" indent="-101600" algn="l">
              <a:lnSpc>
                <a:spcPts val="1360"/>
              </a:lnSpc>
              <a:buChar char="•"/>
            </a:pPr>
            <a:r>
              <a:rPr sz="1000">
                <a:latin typeface="Montserrat"/>
              </a:rPr>
              <a:t>The four system messages are held as plain text files, so prompts can be revised without editing the workflow JSON by hand.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4"/>
          <p:cNvSpPr txBox="1">
            <a:spLocks noGrp="1"/>
          </p:cNvSpPr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85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endParaRPr/>
          </a:p>
        </p:txBody>
      </p:sp>
      <p:sp>
        <p:nvSpPr>
          <p:cNvPr id="404" name="Google Shape;404;p74"/>
          <p:cNvSpPr txBox="1">
            <a:spLocks noGrp="1"/>
          </p:cNvSpPr>
          <p:nvPr>
            <p:ph type="sldNum" idx="4294967295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384</Words>
  <Application>Microsoft Office PowerPoint</Application>
  <PresentationFormat>On-screen Show (16:9)</PresentationFormat>
  <Paragraphs>60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13</vt:i4>
      </vt:variant>
    </vt:vector>
  </HeadingPairs>
  <TitlesOfParts>
    <vt:vector size="25" baseType="lpstr">
      <vt:lpstr>Nunito</vt:lpstr>
      <vt:lpstr>Calibri</vt:lpstr>
      <vt:lpstr>Nunito ExtraBold</vt:lpstr>
      <vt:lpstr>Montserrat</vt:lpstr>
      <vt:lpstr>Arial Black</vt:lpstr>
      <vt:lpstr>Nunito SemiBold</vt:lpstr>
      <vt:lpstr>Verdana</vt:lpstr>
      <vt:lpstr>Century Gothic</vt:lpstr>
      <vt:lpstr>Arial</vt:lpstr>
      <vt:lpstr>Just Logo</vt:lpstr>
      <vt:lpstr>Just Logo</vt:lpstr>
      <vt:lpstr>Just Logo</vt:lpstr>
      <vt:lpstr>PowerPoint Presentation</vt:lpstr>
      <vt:lpstr>PowerPoint Presentation</vt:lpstr>
      <vt:lpstr>Executive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Slide header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Pinni Praneeth kumar</cp:lastModifiedBy>
  <cp:revision>1</cp:revision>
  <dcterms:modified xsi:type="dcterms:W3CDTF">2026-04-11T13:34:26Z</dcterms:modified>
</cp:coreProperties>
</file>